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3"/>
  </p:notesMasterIdLst>
  <p:sldIdLst>
    <p:sldId id="256" r:id="rId2"/>
    <p:sldId id="260" r:id="rId3"/>
    <p:sldId id="257" r:id="rId4"/>
    <p:sldId id="289" r:id="rId5"/>
    <p:sldId id="258" r:id="rId6"/>
    <p:sldId id="265" r:id="rId7"/>
    <p:sldId id="288" r:id="rId8"/>
    <p:sldId id="259" r:id="rId9"/>
    <p:sldId id="290" r:id="rId10"/>
    <p:sldId id="267" r:id="rId11"/>
    <p:sldId id="268" r:id="rId12"/>
  </p:sldIdLst>
  <p:sldSz cx="9144000" cy="5143500" type="screen16x9"/>
  <p:notesSz cx="6858000" cy="9144000"/>
  <p:embeddedFontLst>
    <p:embeddedFont>
      <p:font typeface="Space Grotesk Medium" panose="020B0604020202020204" charset="0"/>
      <p:regular r:id="rId14"/>
      <p:bold r:id="rId15"/>
    </p:embeddedFont>
    <p:embeddedFont>
      <p:font typeface="Space Grotesk" panose="020B0604020202020204" charset="0"/>
      <p:regular r:id="rId16"/>
      <p:bold r:id="rId17"/>
    </p:embeddedFont>
    <p:embeddedFont>
      <p:font typeface="Anaheim" panose="020B0604020202020204" charset="0"/>
      <p:regular r:id="rId18"/>
      <p:bold r:id="rId19"/>
    </p:embeddedFont>
    <p:embeddedFont>
      <p:font typeface="Hind" panose="020B0604020202020204" charset="0"/>
      <p:regular r:id="rId20"/>
      <p:bold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60B81C-5E12-439D-9C82-06F9DB281F37}">
  <a:tblStyle styleId="{5360B81C-5E12-439D-9C82-06F9DB281F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9629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410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396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0723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763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205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779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966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81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389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6050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3947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" y="1304850"/>
            <a:ext cx="7324500" cy="15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19400" y="3407550"/>
            <a:ext cx="3696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8600" y="1911300"/>
            <a:ext cx="5946600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28600" y="3940200"/>
            <a:ext cx="36942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228600" y="1313400"/>
            <a:ext cx="6576000" cy="13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subTitle" idx="1"/>
          </p:nvPr>
        </p:nvSpPr>
        <p:spPr>
          <a:xfrm>
            <a:off x="4803000" y="3399000"/>
            <a:ext cx="41124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895940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3" hasCustomPrompt="1"/>
          </p:nvPr>
        </p:nvSpPr>
        <p:spPr>
          <a:xfrm>
            <a:off x="228600" y="2280565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4" hasCustomPrompt="1"/>
          </p:nvPr>
        </p:nvSpPr>
        <p:spPr>
          <a:xfrm>
            <a:off x="2751896" y="895940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5" hasCustomPrompt="1"/>
          </p:nvPr>
        </p:nvSpPr>
        <p:spPr>
          <a:xfrm>
            <a:off x="2751896" y="2280575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6" hasCustomPrompt="1"/>
          </p:nvPr>
        </p:nvSpPr>
        <p:spPr>
          <a:xfrm>
            <a:off x="228599" y="3665190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7" hasCustomPrompt="1"/>
          </p:nvPr>
        </p:nvSpPr>
        <p:spPr>
          <a:xfrm>
            <a:off x="2751899" y="3665211"/>
            <a:ext cx="734700" cy="55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1"/>
          </p:nvPr>
        </p:nvSpPr>
        <p:spPr>
          <a:xfrm>
            <a:off x="228600" y="1373838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>
            <a:off x="2751900" y="1373838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9"/>
          </p:nvPr>
        </p:nvSpPr>
        <p:spPr>
          <a:xfrm>
            <a:off x="228600" y="4143100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3"/>
          </p:nvPr>
        </p:nvSpPr>
        <p:spPr>
          <a:xfrm>
            <a:off x="228600" y="2781540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>
            <a:off x="2751900" y="2781540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5"/>
          </p:nvPr>
        </p:nvSpPr>
        <p:spPr>
          <a:xfrm>
            <a:off x="2751900" y="4143202"/>
            <a:ext cx="2142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>
            <a:spLocks noGrp="1"/>
          </p:cNvSpPr>
          <p:nvPr>
            <p:ph type="pic" idx="16"/>
          </p:nvPr>
        </p:nvSpPr>
        <p:spPr>
          <a:xfrm>
            <a:off x="5655325" y="895950"/>
            <a:ext cx="3260100" cy="401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228600" y="1410750"/>
            <a:ext cx="74961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309325" y="2624550"/>
            <a:ext cx="6606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5" r:id="rId13"/>
    <p:sldLayoutId id="2147483666" r:id="rId1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ctrTitle"/>
          </p:nvPr>
        </p:nvSpPr>
        <p:spPr>
          <a:xfrm>
            <a:off x="574040" y="3113330"/>
            <a:ext cx="7324500" cy="15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OBJECT DETECTON</a:t>
            </a:r>
            <a:br>
              <a:rPr lang="en" dirty="0" smtClean="0"/>
            </a:br>
            <a:r>
              <a:rPr lang="en" dirty="0" smtClean="0"/>
              <a:t>SYSTEM</a:t>
            </a:r>
            <a:endParaRPr dirty="0"/>
          </a:p>
        </p:txBody>
      </p:sp>
      <p:sp>
        <p:nvSpPr>
          <p:cNvPr id="105" name="Google Shape;105;p25"/>
          <p:cNvSpPr txBox="1">
            <a:spLocks noGrp="1"/>
          </p:cNvSpPr>
          <p:nvPr>
            <p:ph type="subTitle" idx="1"/>
          </p:nvPr>
        </p:nvSpPr>
        <p:spPr>
          <a:xfrm>
            <a:off x="4006112" y="3467180"/>
            <a:ext cx="3696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w</a:t>
            </a:r>
            <a:r>
              <a:rPr lang="en-US" b="1" dirty="0" smtClean="0"/>
              <a:t>ith YOLO Algorithm</a:t>
            </a:r>
            <a:endParaRPr b="1" dirty="0"/>
          </a:p>
        </p:txBody>
      </p:sp>
      <p:sp>
        <p:nvSpPr>
          <p:cNvPr id="106" name="Google Shape;106;p25"/>
          <p:cNvSpPr txBox="1"/>
          <p:nvPr/>
        </p:nvSpPr>
        <p:spPr>
          <a:xfrm flipH="1">
            <a:off x="8184892" y="228600"/>
            <a:ext cx="73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 smtClean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07/23/2025</a:t>
            </a:r>
            <a:endParaRPr sz="800" dirty="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108" name="Google Shape;108;p25"/>
          <p:cNvCxnSpPr>
            <a:stCxn id="107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25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Rectangle 7"/>
          <p:cNvSpPr/>
          <p:nvPr/>
        </p:nvSpPr>
        <p:spPr>
          <a:xfrm>
            <a:off x="6256864" y="3838650"/>
            <a:ext cx="107433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900" dirty="0" smtClean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Prince Timilsina </a:t>
            </a:r>
            <a:endParaRPr lang="en" sz="1050" dirty="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528320" y="312269"/>
            <a:ext cx="5946600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Object Detection?</a:t>
            </a:r>
            <a:endParaRPr dirty="0"/>
          </a:p>
        </p:txBody>
      </p:sp>
      <p:cxnSp>
        <p:nvCxnSpPr>
          <p:cNvPr id="182" name="Google Shape;182;p29"/>
          <p:cNvCxnSpPr/>
          <p:nvPr/>
        </p:nvCxnSpPr>
        <p:spPr>
          <a:xfrm>
            <a:off x="-115993" y="5234480"/>
            <a:ext cx="369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/>
          <p:cNvSpPr/>
          <p:nvPr/>
        </p:nvSpPr>
        <p:spPr>
          <a:xfrm>
            <a:off x="768832" y="2248083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It is a computer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vision technique that identifies and locates </a:t>
            </a:r>
            <a:r>
              <a:rPr lang="en-US" sz="2000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like cars, people, or traffic lights) objects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2080" y="2388447"/>
            <a:ext cx="46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92" y="3383600"/>
            <a:ext cx="2306648" cy="15501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92" y="743403"/>
            <a:ext cx="2306648" cy="15501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86226" y="422758"/>
            <a:ext cx="223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Before</a:t>
            </a:r>
            <a:endParaRPr lang="en-US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76160" y="3062955"/>
            <a:ext cx="223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After</a:t>
            </a:r>
            <a:endParaRPr lang="en-US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cxnSp>
        <p:nvCxnSpPr>
          <p:cNvPr id="11" name="Google Shape;108;p25"/>
          <p:cNvCxnSpPr/>
          <p:nvPr/>
        </p:nvCxnSpPr>
        <p:spPr>
          <a:xfrm flipH="1">
            <a:off x="209127" y="4084320"/>
            <a:ext cx="14393" cy="10417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Rectangle 2"/>
          <p:cNvSpPr/>
          <p:nvPr/>
        </p:nvSpPr>
        <p:spPr>
          <a:xfrm rot="16200000">
            <a:off x="-357148" y="4443233"/>
            <a:ext cx="9717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sz="1050" dirty="0" smtClean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REVOLUTION</a:t>
            </a:r>
            <a:endParaRPr lang="en" sz="1050" dirty="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79;p29"/>
          <p:cNvSpPr txBox="1">
            <a:spLocks noGrp="1"/>
          </p:cNvSpPr>
          <p:nvPr>
            <p:ph type="title"/>
          </p:nvPr>
        </p:nvSpPr>
        <p:spPr>
          <a:xfrm>
            <a:off x="1313180" y="350368"/>
            <a:ext cx="5946600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 smtClean="0"/>
              <a:t>What is YOLO?</a:t>
            </a:r>
            <a:endParaRPr sz="5400" dirty="0"/>
          </a:p>
        </p:txBody>
      </p:sp>
      <p:sp>
        <p:nvSpPr>
          <p:cNvPr id="42" name="Rectangle 41"/>
          <p:cNvSpPr/>
          <p:nvPr/>
        </p:nvSpPr>
        <p:spPr>
          <a:xfrm>
            <a:off x="3940312" y="1136766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“You only look once”</a:t>
            </a:r>
            <a:endParaRPr lang="en-US" sz="1600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313180" y="2187022"/>
            <a:ext cx="5948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It is a</a:t>
            </a:r>
            <a:r>
              <a:rPr lang="en-US" sz="2000" dirty="0">
                <a:latin typeface="Hind" panose="020B0604020202020204" charset="0"/>
                <a:cs typeface="Hind" panose="020B0604020202020204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real-time object detection algorithm that detects multiple objects in a single glance of an image or video frame.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186" y="568322"/>
            <a:ext cx="1349693" cy="13496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470" y="2094076"/>
            <a:ext cx="2055428" cy="11596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90" y="3488742"/>
            <a:ext cx="2323508" cy="1260343"/>
          </a:xfrm>
          <a:prstGeom prst="rect">
            <a:avLst/>
          </a:prstGeom>
        </p:spPr>
      </p:pic>
      <p:cxnSp>
        <p:nvCxnSpPr>
          <p:cNvPr id="52" name="Straight Arrow Connector 51"/>
          <p:cNvCxnSpPr/>
          <p:nvPr/>
        </p:nvCxnSpPr>
        <p:spPr>
          <a:xfrm>
            <a:off x="725020" y="2350347"/>
            <a:ext cx="466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oogle Shape;108;p25"/>
          <p:cNvCxnSpPr/>
          <p:nvPr/>
        </p:nvCxnSpPr>
        <p:spPr>
          <a:xfrm flipH="1">
            <a:off x="209128" y="3691467"/>
            <a:ext cx="21704" cy="14346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/>
          <p:cNvSpPr/>
          <p:nvPr/>
        </p:nvSpPr>
        <p:spPr>
          <a:xfrm rot="16200000">
            <a:off x="-669414" y="4243254"/>
            <a:ext cx="15696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900" dirty="0" smtClean="0">
                <a:solidFill>
                  <a:schemeClr val="dk1"/>
                </a:solidFill>
                <a:latin typeface="Space Grotesk Medium"/>
                <a:cs typeface="Space Grotesk Medium"/>
                <a:sym typeface="Space Grotesk Medium"/>
              </a:rPr>
              <a:t>YOLOv5-YOLOv7-YOLOv11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2834990" y="1448311"/>
            <a:ext cx="74961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sz="9600" dirty="0" smtClean="0"/>
              <a:t>DEMO</a:t>
            </a:r>
            <a:endParaRPr sz="9600" dirty="0"/>
          </a:p>
        </p:txBody>
      </p:sp>
      <p:cxnSp>
        <p:nvCxnSpPr>
          <p:cNvPr id="4" name="Google Shape;108;p25"/>
          <p:cNvCxnSpPr/>
          <p:nvPr/>
        </p:nvCxnSpPr>
        <p:spPr>
          <a:xfrm flipH="1">
            <a:off x="279837" y="4104341"/>
            <a:ext cx="14393" cy="10417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/>
          <p:cNvSpPr/>
          <p:nvPr/>
        </p:nvSpPr>
        <p:spPr>
          <a:xfrm rot="16200000">
            <a:off x="-443455" y="4471336"/>
            <a:ext cx="11946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Quick-DEMO</a:t>
            </a:r>
            <a:endParaRPr lang="en-US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0982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589280" y="1812446"/>
            <a:ext cx="844013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ind" panose="020B0604020202020204" charset="0"/>
                <a:cs typeface="Hind" panose="020B0604020202020204" charset="0"/>
              </a:rPr>
              <a:t>Nepal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ind" panose="020B0604020202020204" charset="0"/>
                <a:cs typeface="Hind" panose="020B0604020202020204" charset="0"/>
              </a:rPr>
              <a:t>: Over 2,000 road deaths/year, lack of smart safety tech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ind" panose="020B0604020202020204" charset="0"/>
                <a:cs typeface="Hind" panose="020B0604020202020204" charset="0"/>
              </a:rPr>
              <a:t>Public transport and vehicles lack AI-powered alerts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No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affordable detection systems in public transport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ind" panose="020B0604020202020204" charset="0"/>
              <a:cs typeface="Hin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ind" panose="020B0604020202020204" charset="0"/>
                <a:cs typeface="Hind" panose="020B0604020202020204" charset="0"/>
              </a:rPr>
              <a:t>Global trend: ADAS (Advanced Driver Assistance Systems) market booming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22386" y="4517596"/>
            <a:ext cx="45223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i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“Affordable </a:t>
            </a:r>
            <a:r>
              <a:rPr lang="en-US" altLang="en-US" i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+ locally made + practical solution for </a:t>
            </a:r>
            <a:r>
              <a:rPr lang="en-US" altLang="en-US" i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Nepal”</a:t>
            </a:r>
            <a:endParaRPr lang="en-US" altLang="en-US" i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75788" y="677551"/>
            <a:ext cx="25811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Need?</a:t>
            </a:r>
            <a:endParaRPr lang="en-US" sz="6600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>
            <a:spLocks noGrp="1"/>
          </p:cNvSpPr>
          <p:nvPr>
            <p:ph type="title"/>
          </p:nvPr>
        </p:nvSpPr>
        <p:spPr>
          <a:xfrm>
            <a:off x="420653" y="141613"/>
            <a:ext cx="6576000" cy="13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smtClean="0">
                <a:solidFill>
                  <a:schemeClr val="dk1"/>
                </a:solidFill>
              </a:rPr>
              <a:t>Application</a:t>
            </a:r>
            <a:endParaRPr sz="5400" dirty="0">
              <a:solidFill>
                <a:schemeClr val="dk1"/>
              </a:solidFill>
            </a:endParaRPr>
          </a:p>
        </p:txBody>
      </p:sp>
      <p:sp>
        <p:nvSpPr>
          <p:cNvPr id="230" name="Google Shape;230;p34"/>
          <p:cNvSpPr txBox="1">
            <a:spLocks noGrp="1"/>
          </p:cNvSpPr>
          <p:nvPr>
            <p:ph type="subTitle" idx="1"/>
          </p:nvPr>
        </p:nvSpPr>
        <p:spPr>
          <a:xfrm>
            <a:off x="420653" y="1886852"/>
            <a:ext cx="7443186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dirty="0"/>
              <a:t>🚌 </a:t>
            </a:r>
            <a:r>
              <a:rPr lang="en-US" sz="2400" b="1" dirty="0"/>
              <a:t>Buses</a:t>
            </a:r>
            <a:r>
              <a:rPr lang="en-US" sz="2400" dirty="0"/>
              <a:t> — Safer public transport</a:t>
            </a:r>
            <a:br>
              <a:rPr lang="en-US" sz="2400" dirty="0"/>
            </a:br>
            <a:r>
              <a:rPr lang="en-US" sz="2400" dirty="0"/>
              <a:t>🚕 </a:t>
            </a:r>
            <a:r>
              <a:rPr lang="en-US" sz="2400" b="1" dirty="0"/>
              <a:t>Taxis</a:t>
            </a:r>
            <a:r>
              <a:rPr lang="en-US" sz="2400" dirty="0"/>
              <a:t> — Alerts for distracted driving</a:t>
            </a:r>
            <a:br>
              <a:rPr lang="en-US" sz="2400" dirty="0"/>
            </a:br>
            <a:r>
              <a:rPr lang="en-US" sz="2400" dirty="0"/>
              <a:t>🚦 </a:t>
            </a:r>
            <a:r>
              <a:rPr lang="en-US" sz="2400" b="1" dirty="0"/>
              <a:t>Traffic Lights</a:t>
            </a:r>
            <a:r>
              <a:rPr lang="en-US" sz="2400" dirty="0"/>
              <a:t> — Smarter city traffic </a:t>
            </a:r>
            <a:r>
              <a:rPr lang="en-US" sz="2400" dirty="0" smtClean="0"/>
              <a:t>flow</a:t>
            </a:r>
          </a:p>
          <a:p>
            <a:pPr marL="0" lvl="0" indent="0" algn="l"/>
            <a:r>
              <a:rPr lang="en-US" sz="2400" dirty="0" smtClean="0"/>
              <a:t>🏭 </a:t>
            </a:r>
            <a:r>
              <a:rPr lang="en-US" sz="2400" b="1" dirty="0"/>
              <a:t>Factories</a:t>
            </a:r>
            <a:r>
              <a:rPr lang="en-US" sz="2400" dirty="0"/>
              <a:t> — Safety &amp; process monitoring</a:t>
            </a:r>
            <a:br>
              <a:rPr lang="en-US" sz="2400" dirty="0"/>
            </a:br>
            <a:r>
              <a:rPr lang="en-US" sz="2400" dirty="0" smtClean="0"/>
              <a:t>🛒 </a:t>
            </a:r>
            <a:r>
              <a:rPr lang="en-US" sz="2400" b="1" dirty="0"/>
              <a:t>Shops</a:t>
            </a:r>
            <a:r>
              <a:rPr lang="en-US" sz="2400" dirty="0"/>
              <a:t> — </a:t>
            </a:r>
            <a:r>
              <a:rPr lang="en-US" sz="2400" dirty="0" smtClean="0"/>
              <a:t>Shelf tracking </a:t>
            </a:r>
            <a:endParaRPr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867" y="213929"/>
            <a:ext cx="2261447" cy="19900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867" y="2739591"/>
            <a:ext cx="2315626" cy="18188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79;p29"/>
          <p:cNvSpPr txBox="1">
            <a:spLocks noGrp="1"/>
          </p:cNvSpPr>
          <p:nvPr>
            <p:ph type="title"/>
          </p:nvPr>
        </p:nvSpPr>
        <p:spPr>
          <a:xfrm>
            <a:off x="828502" y="271059"/>
            <a:ext cx="10112587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smtClean="0"/>
              <a:t>Market Size &amp; Opportunity</a:t>
            </a:r>
            <a:endParaRPr sz="4400" dirty="0"/>
          </a:p>
        </p:txBody>
      </p:sp>
      <p:sp>
        <p:nvSpPr>
          <p:cNvPr id="42" name="Rectangle 41"/>
          <p:cNvSpPr/>
          <p:nvPr/>
        </p:nvSpPr>
        <p:spPr>
          <a:xfrm>
            <a:off x="2919306" y="1163859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“</a:t>
            </a:r>
            <a:r>
              <a:rPr lang="en-US" sz="16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A Multi-Billion Dollar Market</a:t>
            </a:r>
            <a:r>
              <a:rPr lang="en-US" sz="1600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”</a:t>
            </a:r>
            <a:endParaRPr lang="en-US" sz="1600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313180" y="2187022"/>
            <a:ext cx="594868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Hind "/>
              </a:rPr>
              <a:t>Global </a:t>
            </a:r>
            <a:r>
              <a:rPr lang="en-US" sz="2000" dirty="0">
                <a:solidFill>
                  <a:schemeClr val="tx1"/>
                </a:solidFill>
                <a:latin typeface="Hind "/>
              </a:rPr>
              <a:t>market: 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$10B 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(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2025) 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→ $35B (2030)</a:t>
            </a:r>
            <a:endParaRPr lang="en-US" sz="2000" dirty="0">
              <a:solidFill>
                <a:schemeClr val="tx1"/>
              </a:solidFill>
              <a:latin typeface="Hind "/>
            </a:endParaRPr>
          </a:p>
          <a:p>
            <a:r>
              <a:rPr lang="en-US" sz="2000" dirty="0">
                <a:solidFill>
                  <a:schemeClr val="tx1"/>
                </a:solidFill>
                <a:latin typeface="Hind "/>
              </a:rPr>
              <a:t>Expected to grow at 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~18-20% 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CAGR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Hind "/>
              </a:rPr>
              <a:t>South </a:t>
            </a:r>
            <a:r>
              <a:rPr lang="en-US" sz="2000" dirty="0">
                <a:solidFill>
                  <a:schemeClr val="tx1"/>
                </a:solidFill>
                <a:latin typeface="Hind "/>
              </a:rPr>
              <a:t>Asia/Nepal: 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&lt;1% AI vision adoption</a:t>
            </a:r>
            <a:endParaRPr lang="en-US" sz="2000" dirty="0">
              <a:solidFill>
                <a:schemeClr val="tx1"/>
              </a:solidFill>
              <a:latin typeface="Hind "/>
            </a:endParaRPr>
          </a:p>
          <a:p>
            <a:r>
              <a:rPr lang="en-US" sz="2000" dirty="0">
                <a:solidFill>
                  <a:schemeClr val="tx1"/>
                </a:solidFill>
                <a:latin typeface="Hind "/>
              </a:rPr>
              <a:t>Nepal market potential: 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$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2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-5M 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(5 </a:t>
            </a:r>
            <a:r>
              <a:rPr lang="en-US" sz="2000" b="1" dirty="0" smtClean="0">
                <a:solidFill>
                  <a:schemeClr val="tx1"/>
                </a:solidFill>
                <a:latin typeface="Hind "/>
              </a:rPr>
              <a:t>years</a:t>
            </a:r>
            <a:r>
              <a:rPr lang="en-US" sz="2000" b="1" dirty="0">
                <a:solidFill>
                  <a:schemeClr val="tx1"/>
                </a:solidFill>
                <a:latin typeface="Hind "/>
              </a:rPr>
              <a:t>)</a:t>
            </a:r>
            <a:endParaRPr lang="en-US" sz="2000" dirty="0">
              <a:solidFill>
                <a:schemeClr val="tx1"/>
              </a:solidFill>
              <a:latin typeface="Hind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527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1419825" y="238963"/>
            <a:ext cx="74961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sz="5400" dirty="0"/>
              <a:t>How We’ll </a:t>
            </a:r>
            <a:r>
              <a:rPr lang="en-US" sz="5400" dirty="0" smtClean="0"/>
              <a:t>Grow??</a:t>
            </a:r>
            <a:endParaRPr sz="5400" dirty="0"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1178179" y="1547590"/>
            <a:ext cx="6606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endParaRPr lang="en-US" sz="2000" dirty="0"/>
          </a:p>
          <a:p>
            <a:r>
              <a:rPr lang="en-US" sz="2000" dirty="0"/>
              <a:t>Pilot projects with local bus companies &amp; taxi unions</a:t>
            </a:r>
          </a:p>
          <a:p>
            <a:r>
              <a:rPr lang="en-US" sz="2000" dirty="0"/>
              <a:t>Partnerships with government transport and traffic departments</a:t>
            </a:r>
          </a:p>
          <a:p>
            <a:r>
              <a:rPr lang="en-US" sz="2000" dirty="0"/>
              <a:t>Collaborate with factories and shops for security &amp; </a:t>
            </a:r>
            <a:r>
              <a:rPr lang="en-US" sz="2000" dirty="0" smtClean="0"/>
              <a:t>automation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Scale through NGOs &amp; social impact </a:t>
            </a:r>
            <a:r>
              <a:rPr lang="en-US" sz="2000" dirty="0" smtClean="0"/>
              <a:t>funds</a:t>
            </a:r>
          </a:p>
          <a:p>
            <a:pPr marL="152400" indent="0">
              <a:buNone/>
            </a:pPr>
            <a:endParaRPr lang="en-US" sz="2000" dirty="0"/>
          </a:p>
          <a:p>
            <a:endParaRPr lang="en-US" sz="2000" dirty="0"/>
          </a:p>
        </p:txBody>
      </p:sp>
      <p:cxnSp>
        <p:nvCxnSpPr>
          <p:cNvPr id="4" name="Google Shape;108;p25"/>
          <p:cNvCxnSpPr/>
          <p:nvPr/>
        </p:nvCxnSpPr>
        <p:spPr>
          <a:xfrm flipH="1">
            <a:off x="279837" y="4104341"/>
            <a:ext cx="14393" cy="10417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/>
          <p:cNvSpPr/>
          <p:nvPr/>
        </p:nvSpPr>
        <p:spPr>
          <a:xfrm rot="16200000">
            <a:off x="-304731" y="4513579"/>
            <a:ext cx="9172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 smtClean="0">
                <a:solidFill>
                  <a:schemeClr val="dk1"/>
                </a:solidFill>
                <a:latin typeface="Space Grotesk Medium"/>
                <a:cs typeface="Space Grotesk Medium"/>
                <a:sym typeface="Space Grotesk Medium"/>
              </a:rPr>
              <a:t>GROWTH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79;p29"/>
          <p:cNvSpPr txBox="1">
            <a:spLocks noGrp="1"/>
          </p:cNvSpPr>
          <p:nvPr>
            <p:ph type="title"/>
          </p:nvPr>
        </p:nvSpPr>
        <p:spPr>
          <a:xfrm>
            <a:off x="2026920" y="167150"/>
            <a:ext cx="10112587" cy="17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smtClean="0"/>
              <a:t>Business Model</a:t>
            </a:r>
            <a:endParaRPr sz="4400" dirty="0"/>
          </a:p>
        </p:txBody>
      </p:sp>
      <p:sp>
        <p:nvSpPr>
          <p:cNvPr id="42" name="Rectangle 41"/>
          <p:cNvSpPr/>
          <p:nvPr/>
        </p:nvSpPr>
        <p:spPr>
          <a:xfrm>
            <a:off x="3009361" y="890673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“How we make money?”</a:t>
            </a:r>
            <a:endParaRPr lang="en-US" sz="1600" b="1" dirty="0">
              <a:solidFill>
                <a:schemeClr val="tx1"/>
              </a:solidFill>
              <a:latin typeface="Hind" panose="020B0604020202020204" charset="0"/>
              <a:cs typeface="Hind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20091" y="1830761"/>
            <a:ext cx="67540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Hardware sales: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Camera + embedded system kits</a:t>
            </a:r>
          </a:p>
          <a:p>
            <a:r>
              <a:rPr lang="en-US" sz="20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Software subscriptions: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Regular updates, cloud analytics (optional)</a:t>
            </a:r>
          </a:p>
          <a:p>
            <a:r>
              <a:rPr lang="en-US" sz="20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Licensing: </a:t>
            </a:r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Collaborate with vehicle manufacturers and public transport</a:t>
            </a:r>
          </a:p>
          <a:p>
            <a:r>
              <a:rPr lang="en-US" sz="2000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Installation &amp; maintenance services for fleets</a:t>
            </a:r>
          </a:p>
        </p:txBody>
      </p:sp>
    </p:spTree>
    <p:extLst>
      <p:ext uri="{BB962C8B-B14F-4D97-AF65-F5344CB8AC3E}">
        <p14:creationId xmlns:p14="http://schemas.microsoft.com/office/powerpoint/2010/main" val="1186294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Future Vision and Expansion</a:t>
            </a:r>
            <a:endParaRPr dirty="0"/>
          </a:p>
        </p:txBody>
      </p:sp>
      <p:sp>
        <p:nvSpPr>
          <p:cNvPr id="264" name="Google Shape;264;p36"/>
          <p:cNvSpPr txBox="1"/>
          <p:nvPr/>
        </p:nvSpPr>
        <p:spPr>
          <a:xfrm>
            <a:off x="414600" y="1970890"/>
            <a:ext cx="293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Integrating with Mobile apps for driver safety alerts</a:t>
            </a:r>
            <a:endParaRPr sz="16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414600" y="2964568"/>
            <a:ext cx="293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rgbClr val="FFFFFF"/>
              </a:buClr>
              <a:buSzPts val="1100"/>
            </a:pPr>
            <a:r>
              <a:rPr lang="en-US" sz="16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Expansion to smart city infrastructure</a:t>
            </a:r>
            <a:endParaRPr sz="1600" b="1" dirty="0">
              <a:solidFill>
                <a:schemeClr val="tx1"/>
              </a:solidFill>
              <a:latin typeface="Hind" panose="020B0604020202020204" charset="0"/>
              <a:ea typeface="Space Grotesk"/>
              <a:cs typeface="Hind" panose="020B0604020202020204" charset="0"/>
              <a:sym typeface="Space Grotesk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414600" y="3048450"/>
            <a:ext cx="29316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14600" y="3800320"/>
            <a:ext cx="293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Traffic Intelligence</a:t>
            </a:r>
            <a:endParaRPr sz="1600" b="1" dirty="0">
              <a:solidFill>
                <a:schemeClr val="tx1"/>
              </a:solidFill>
              <a:latin typeface="Hind" panose="020B0604020202020204" charset="0"/>
              <a:ea typeface="Space Grotesk"/>
              <a:cs typeface="Hind" panose="020B0604020202020204" charset="0"/>
              <a:sym typeface="Space Grotesk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1051293" y="2979708"/>
            <a:ext cx="29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3801074" y="2713196"/>
            <a:ext cx="293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Hardware Licensing</a:t>
            </a:r>
            <a:endParaRPr sz="1600" b="1" dirty="0">
              <a:solidFill>
                <a:schemeClr val="tx1"/>
              </a:solidFill>
              <a:latin typeface="Hind" panose="020B0604020202020204" charset="0"/>
              <a:ea typeface="Space Grotesk"/>
              <a:cs typeface="Hind" panose="020B0604020202020204" charset="0"/>
              <a:sym typeface="Space Grotesk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843062" y="2534506"/>
            <a:ext cx="29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3786846" y="1638313"/>
            <a:ext cx="293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600" b="1" dirty="0">
                <a:solidFill>
                  <a:schemeClr val="tx1"/>
                </a:solidFill>
                <a:latin typeface="Hind" panose="020B0604020202020204" charset="0"/>
                <a:cs typeface="Hind" panose="020B0604020202020204" charset="0"/>
              </a:rPr>
              <a:t>Smart Inventory Management</a:t>
            </a:r>
            <a:endParaRPr sz="1600" b="1" dirty="0">
              <a:solidFill>
                <a:schemeClr val="tx1"/>
              </a:solidFill>
              <a:latin typeface="Hind" panose="020B0604020202020204" charset="0"/>
              <a:ea typeface="Space Grotesk"/>
              <a:cs typeface="Hind" panose="020B0604020202020204" charset="0"/>
              <a:sym typeface="Space Grotesk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3843062" y="4227463"/>
            <a:ext cx="293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228600" y="1678773"/>
            <a:ext cx="109800" cy="10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6"/>
          <p:cNvSpPr/>
          <p:nvPr/>
        </p:nvSpPr>
        <p:spPr>
          <a:xfrm>
            <a:off x="228600" y="2892868"/>
            <a:ext cx="109800" cy="10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228600" y="4030763"/>
            <a:ext cx="109800" cy="10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3673510" y="2852466"/>
            <a:ext cx="109800" cy="10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36"/>
          <p:cNvCxnSpPr>
            <a:stCxn id="276" idx="4"/>
            <a:endCxn id="277" idx="0"/>
          </p:cNvCxnSpPr>
          <p:nvPr/>
        </p:nvCxnSpPr>
        <p:spPr>
          <a:xfrm>
            <a:off x="283500" y="1788573"/>
            <a:ext cx="0" cy="110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6"/>
          <p:cNvCxnSpPr>
            <a:stCxn id="277" idx="4"/>
            <a:endCxn id="278" idx="0"/>
          </p:cNvCxnSpPr>
          <p:nvPr/>
        </p:nvCxnSpPr>
        <p:spPr>
          <a:xfrm>
            <a:off x="283500" y="3002668"/>
            <a:ext cx="0" cy="102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36"/>
          <p:cNvCxnSpPr>
            <a:stCxn id="268" idx="3"/>
          </p:cNvCxnSpPr>
          <p:nvPr/>
        </p:nvCxnSpPr>
        <p:spPr>
          <a:xfrm flipV="1">
            <a:off x="3346200" y="1733673"/>
            <a:ext cx="323775" cy="228219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36"/>
          <p:cNvCxnSpPr>
            <a:endCxn id="280" idx="0"/>
          </p:cNvCxnSpPr>
          <p:nvPr/>
        </p:nvCxnSpPr>
        <p:spPr>
          <a:xfrm>
            <a:off x="3728410" y="1731371"/>
            <a:ext cx="0" cy="11210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Google Shape;287;p36"/>
          <p:cNvSpPr txBox="1"/>
          <p:nvPr/>
        </p:nvSpPr>
        <p:spPr>
          <a:xfrm>
            <a:off x="7406991" y="4712400"/>
            <a:ext cx="16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end</a:t>
            </a:r>
            <a:endParaRPr sz="16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414600" y="934613"/>
            <a:ext cx="16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beginning</a:t>
            </a:r>
            <a:endParaRPr sz="1600" b="1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290" name="Google Shape;290;p36"/>
          <p:cNvCxnSpPr>
            <a:stCxn id="289" idx="1"/>
            <a:endCxn id="276" idx="0"/>
          </p:cNvCxnSpPr>
          <p:nvPr/>
        </p:nvCxnSpPr>
        <p:spPr>
          <a:xfrm flipH="1">
            <a:off x="283500" y="1150163"/>
            <a:ext cx="131100" cy="528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/>
          <p:cNvCxnSpPr/>
          <p:nvPr/>
        </p:nvCxnSpPr>
        <p:spPr>
          <a:xfrm>
            <a:off x="3649980" y="1733673"/>
            <a:ext cx="74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280;p36"/>
          <p:cNvSpPr/>
          <p:nvPr/>
        </p:nvSpPr>
        <p:spPr>
          <a:xfrm>
            <a:off x="3669975" y="1812480"/>
            <a:ext cx="109800" cy="10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08;p38"/>
          <p:cNvSpPr txBox="1">
            <a:spLocks noGrp="1"/>
          </p:cNvSpPr>
          <p:nvPr>
            <p:ph type="title"/>
          </p:nvPr>
        </p:nvSpPr>
        <p:spPr>
          <a:xfrm>
            <a:off x="187963" y="0"/>
            <a:ext cx="6138330" cy="15936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Thank you</a:t>
            </a:r>
            <a:endParaRPr sz="8000" dirty="0"/>
          </a:p>
        </p:txBody>
      </p:sp>
      <p:cxnSp>
        <p:nvCxnSpPr>
          <p:cNvPr id="15" name="Google Shape;311;p38"/>
          <p:cNvCxnSpPr/>
          <p:nvPr/>
        </p:nvCxnSpPr>
        <p:spPr>
          <a:xfrm>
            <a:off x="385527" y="2528775"/>
            <a:ext cx="2543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385527" y="157658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800" b="1" dirty="0">
                <a:solidFill>
                  <a:schemeClr val="tx1"/>
                </a:solidFill>
              </a:rPr>
              <a:t>Do you have any questions?</a:t>
            </a:r>
          </a:p>
          <a:p>
            <a:pPr lvl="0"/>
            <a:r>
              <a:rPr lang="en-US" sz="1800" dirty="0">
                <a:solidFill>
                  <a:schemeClr val="tx1"/>
                </a:solidFill>
              </a:rPr>
              <a:t>timilsinaprince07@gmail.com</a:t>
            </a:r>
          </a:p>
          <a:p>
            <a:pPr lvl="0"/>
            <a:r>
              <a:rPr lang="en-US" sz="1800" dirty="0">
                <a:solidFill>
                  <a:schemeClr val="tx1"/>
                </a:solidFill>
              </a:rPr>
              <a:t>+977 9842856079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1620" y="3447936"/>
            <a:ext cx="75962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6"/>
                </a:solidFill>
                <a:latin typeface="Hind "/>
              </a:rPr>
              <a:t>“Seeing is not enough; we must detect, decide, and </a:t>
            </a:r>
            <a:r>
              <a:rPr lang="en-US" sz="2800" b="1" i="1" dirty="0" smtClean="0">
                <a:solidFill>
                  <a:schemeClr val="accent6"/>
                </a:solidFill>
                <a:latin typeface="Hind "/>
              </a:rPr>
              <a:t>act  that’s </a:t>
            </a:r>
            <a:r>
              <a:rPr lang="en-US" sz="2800" b="1" i="1" dirty="0">
                <a:solidFill>
                  <a:schemeClr val="accent6"/>
                </a:solidFill>
                <a:latin typeface="Hind "/>
              </a:rPr>
              <a:t>the power of real-time vision.”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322</Words>
  <Application>Microsoft Office PowerPoint</Application>
  <PresentationFormat>On-screen Show (16:9)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Space Grotesk Medium</vt:lpstr>
      <vt:lpstr>Nunito Light</vt:lpstr>
      <vt:lpstr>Space Grotesk</vt:lpstr>
      <vt:lpstr>Open Sans Light</vt:lpstr>
      <vt:lpstr>Anaheim</vt:lpstr>
      <vt:lpstr>Hind</vt:lpstr>
      <vt:lpstr>Roboto</vt:lpstr>
      <vt:lpstr>Hind </vt:lpstr>
      <vt:lpstr>Arial</vt:lpstr>
      <vt:lpstr>Dark Theme by Slidesgo</vt:lpstr>
      <vt:lpstr>OBJECT DETECTON SYSTEM</vt:lpstr>
      <vt:lpstr>What is Object Detection?</vt:lpstr>
      <vt:lpstr>What is YOLO?</vt:lpstr>
      <vt:lpstr>DEMO</vt:lpstr>
      <vt:lpstr>PowerPoint Presentation</vt:lpstr>
      <vt:lpstr>Application</vt:lpstr>
      <vt:lpstr>Market Size &amp; Opportunity</vt:lpstr>
      <vt:lpstr>How We’ll Grow??</vt:lpstr>
      <vt:lpstr>Business Model</vt:lpstr>
      <vt:lpstr>Future Vision and Expansion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DETECTON SYSTEM</dc:title>
  <cp:lastModifiedBy>laneovo</cp:lastModifiedBy>
  <cp:revision>26</cp:revision>
  <dcterms:modified xsi:type="dcterms:W3CDTF">2025-07-31T15:00:26Z</dcterms:modified>
</cp:coreProperties>
</file>